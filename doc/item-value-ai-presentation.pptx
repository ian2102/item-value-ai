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0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3" r:id="rId12"/>
    <p:sldId id="314" r:id="rId13"/>
    <p:sldId id="315" r:id="rId14"/>
    <p:sldId id="316" r:id="rId15"/>
    <p:sldId id="317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DDBD1-476D-1694-3D87-910E58ACB62D}" v="6" dt="2025-10-23T18:28:58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77C4B-9B0B-42F6-B51A-40D15BFEFCC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E0E95-5A04-4366-B56A-84EFA4A4F5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64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E0E95-5A04-4366-B56A-84EFA4A4F56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828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rkanddarker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an2102/item-value-a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EA920A-8CC0-A67D-1B7A-9E16BA4D2E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087" y="616503"/>
            <a:ext cx="10668000" cy="2387600"/>
          </a:xfrm>
        </p:spPr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Item Value Prediction for</a:t>
            </a:r>
            <a:br>
              <a:rPr lang="en-US" b="1" u="sng" dirty="0">
                <a:ea typeface="+mj-lt"/>
                <a:cs typeface="+mj-lt"/>
              </a:rPr>
            </a:br>
            <a:r>
              <a:rPr lang="en-US" b="1" u="sng" dirty="0">
                <a:ea typeface="+mj-lt"/>
                <a:cs typeface="+mj-lt"/>
              </a:rPr>
              <a:t>Dark and Darker</a:t>
            </a:r>
            <a:endParaRPr lang="en-US" b="1" u="sng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66C0E-4F14-8A7C-8B3A-B97E81450D4F}"/>
              </a:ext>
            </a:extLst>
          </p:cNvPr>
          <p:cNvSpPr txBox="1"/>
          <p:nvPr/>
        </p:nvSpPr>
        <p:spPr>
          <a:xfrm>
            <a:off x="761088" y="2284238"/>
            <a:ext cx="10667999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latin typeface="Calibri"/>
                <a:ea typeface="Calibri"/>
                <a:cs typeface="Calibri"/>
              </a:rPr>
              <a:t>Ian Clarke</a:t>
            </a:r>
          </a:p>
          <a:p>
            <a:pPr algn="ctr"/>
            <a:r>
              <a:rPr lang="en-US" sz="3200" b="1" dirty="0">
                <a:latin typeface="Calibri"/>
                <a:ea typeface="Calibri"/>
                <a:cs typeface="Calibri"/>
              </a:rPr>
              <a:t>UVic AI</a:t>
            </a:r>
          </a:p>
          <a:p>
            <a:pPr algn="ctr"/>
            <a:r>
              <a:rPr lang="en-US" sz="3200" b="1" dirty="0">
                <a:latin typeface="Calibri"/>
                <a:ea typeface="Calibri"/>
                <a:cs typeface="Calibri"/>
              </a:rPr>
              <a:t>February 24, 2025</a:t>
            </a:r>
          </a:p>
          <a:p>
            <a:endParaRPr lang="en-US" sz="3200" b="1" dirty="0">
              <a:latin typeface="Aptos" panose="020B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D688-7BCD-DC84-BA4E-6B3338F4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23356-1111-A6D4-19F0-B91408DD3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60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 to Dark and Darker and Trading Challenges</a:t>
            </a:r>
          </a:p>
          <a:p>
            <a:r>
              <a:rPr lang="it-IT" dirty="0"/>
              <a:t>Data Capture via Network Sniffing</a:t>
            </a:r>
          </a:p>
          <a:p>
            <a:r>
              <a:rPr lang="en-US" dirty="0"/>
              <a:t>Parsing and Processing Messages Using LLMs</a:t>
            </a:r>
          </a:p>
          <a:p>
            <a:r>
              <a:rPr lang="en-US" dirty="0"/>
              <a:t>Data Cleaning, Feature Engineering, and Model Training</a:t>
            </a:r>
          </a:p>
          <a:p>
            <a:r>
              <a:rPr lang="en-US" dirty="0"/>
              <a:t>Deploying a Web App with Custom OCR Pipeline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891529-0125-5C08-A7EF-AD77AC590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808F19-89C2-F307-C724-162031C3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 to Dark and Darker and Trading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A3C6-8B73-643B-BAA9-2C44BCA71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ea typeface="+mj-lt"/>
                <a:cs typeface="+mj-lt"/>
              </a:rPr>
              <a:t>What is Dark and Darker?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56CE7-9D7C-9AA8-E01F-B6412D31B52F}"/>
              </a:ext>
            </a:extLst>
          </p:cNvPr>
          <p:cNvSpPr txBox="1"/>
          <p:nvPr/>
        </p:nvSpPr>
        <p:spPr>
          <a:xfrm>
            <a:off x="838200" y="2498756"/>
            <a:ext cx="106234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An unforgiving hardcore fantasy FPS dungeon </a:t>
            </a:r>
            <a:r>
              <a:rPr lang="en-US" sz="3200" dirty="0" err="1">
                <a:solidFill>
                  <a:schemeClr val="bg1"/>
                </a:solidFill>
              </a:rPr>
              <a:t>PvPvE</a:t>
            </a:r>
            <a:r>
              <a:rPr lang="en-US" sz="3200" dirty="0">
                <a:solidFill>
                  <a:schemeClr val="bg1"/>
                </a:solidFill>
              </a:rPr>
              <a:t> adventure. Band together with your friends and use your courage, wits, and cunning to uncover mythical treasures, defeat gruesome monsters, while staying one step ahead of the other devious treasure-hunters.</a:t>
            </a:r>
          </a:p>
          <a:p>
            <a:r>
              <a:rPr lang="en-US" sz="3200" dirty="0">
                <a:solidFill>
                  <a:schemeClr val="bg1"/>
                </a:solidFill>
                <a:hlinkClick r:id="rId3"/>
              </a:rPr>
              <a:t>www.darkanddarker.com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73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9E7C-F120-A346-0CBF-29D89FAC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16B0F-302F-E447-B1D3-82B4365254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DBCD7D-F4FD-28FB-5D6C-F76A101C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 to Dark and Darker and Trading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EFB19-636C-43D4-6D0E-F92AF32C4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ea typeface="+mj-lt"/>
                <a:cs typeface="+mj-lt"/>
              </a:rPr>
              <a:t>Dark and Darker Items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AA778-4FA5-216A-2C8F-7BDA19826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78"/>
          <a:stretch>
            <a:fillRect/>
          </a:stretch>
        </p:blipFill>
        <p:spPr>
          <a:xfrm>
            <a:off x="838200" y="2748787"/>
            <a:ext cx="4392122" cy="3065440"/>
          </a:xfrm>
          <a:prstGeom prst="rect">
            <a:avLst/>
          </a:prstGeom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1FB2329E-DF8A-2D20-C2CA-907E508950AD}"/>
              </a:ext>
            </a:extLst>
          </p:cNvPr>
          <p:cNvSpPr/>
          <p:nvPr/>
        </p:nvSpPr>
        <p:spPr>
          <a:xfrm>
            <a:off x="4498109" y="4488873"/>
            <a:ext cx="1052946" cy="1265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ADB05DA-7A82-7DB7-385D-E59C6EA0540E}"/>
              </a:ext>
            </a:extLst>
          </p:cNvPr>
          <p:cNvSpPr/>
          <p:nvPr/>
        </p:nvSpPr>
        <p:spPr>
          <a:xfrm>
            <a:off x="4498109" y="3445100"/>
            <a:ext cx="1052946" cy="1043773"/>
          </a:xfrm>
          <a:prstGeom prst="rightBrace">
            <a:avLst>
              <a:gd name="adj1" fmla="val 8333"/>
              <a:gd name="adj2" fmla="val 49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2F31D5-15C7-29A6-C554-F1917A3EF3F3}"/>
              </a:ext>
            </a:extLst>
          </p:cNvPr>
          <p:cNvSpPr txBox="1"/>
          <p:nvPr/>
        </p:nvSpPr>
        <p:spPr>
          <a:xfrm>
            <a:off x="5754254" y="3429000"/>
            <a:ext cx="5599545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Base Stats: Items core, always present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33CAF-287E-EBB8-0FE0-C508BC732081}"/>
              </a:ext>
            </a:extLst>
          </p:cNvPr>
          <p:cNvSpPr txBox="1"/>
          <p:nvPr/>
        </p:nvSpPr>
        <p:spPr>
          <a:xfrm>
            <a:off x="5754255" y="4488873"/>
            <a:ext cx="5599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Attributes: Randomly selected additional modifiers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3B7B1D-6115-6FE2-E7B1-DC9983333277}"/>
              </a:ext>
            </a:extLst>
          </p:cNvPr>
          <p:cNvSpPr txBox="1"/>
          <p:nvPr/>
        </p:nvSpPr>
        <p:spPr>
          <a:xfrm>
            <a:off x="6064711" y="1621384"/>
            <a:ext cx="5449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usefulness of these properties varies significantly, leading to substantial differences in item value.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4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10399-1495-59D3-7811-96D445487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97B58C-4B6F-EBD8-6A05-9C409F761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875AD-98E1-4ECF-05FB-847B0D42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 to Dark and Darker and Trading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CE609-5DFF-19E0-426C-45F3CBE0E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ea typeface="+mj-lt"/>
                <a:cs typeface="+mj-lt"/>
              </a:rPr>
              <a:t>Trading Challenges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6CB6D-8DA4-4AC8-3F84-6803FC0E7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799" y="1016228"/>
            <a:ext cx="4791363" cy="5068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53AA65-07E8-9C96-38F6-F9ADDEC146E5}"/>
              </a:ext>
            </a:extLst>
          </p:cNvPr>
          <p:cNvSpPr txBox="1"/>
          <p:nvPr/>
        </p:nvSpPr>
        <p:spPr>
          <a:xfrm>
            <a:off x="907474" y="2748787"/>
            <a:ext cx="55164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High-value items are traded through the Trading Post by exchanging items of comparable value, but unclear pricing requires manual monitoring for accurate estimates.</a:t>
            </a:r>
            <a:endParaRPr lang="en-CA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91976-8C92-4A1A-B8D5-DC8DC0228EEC}"/>
              </a:ext>
            </a:extLst>
          </p:cNvPr>
          <p:cNvSpPr txBox="1"/>
          <p:nvPr/>
        </p:nvSpPr>
        <p:spPr>
          <a:xfrm>
            <a:off x="7861370" y="6238637"/>
            <a:ext cx="256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Trade Post Example</a:t>
            </a:r>
          </a:p>
        </p:txBody>
      </p:sp>
    </p:spTree>
    <p:extLst>
      <p:ext uri="{BB962C8B-B14F-4D97-AF65-F5344CB8AC3E}">
        <p14:creationId xmlns:p14="http://schemas.microsoft.com/office/powerpoint/2010/main" val="161744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372E-B89F-2613-EFA7-7F965EF0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B1AFE0-6860-8194-76F1-4348AB69BF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" y="0"/>
            <a:ext cx="1218635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2DCBBD-96BC-5788-8204-32D396A5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 to Dark and Darker and Trading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3CC96-8555-5CDA-94D9-587BFDA15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ea typeface="+mj-lt"/>
                <a:cs typeface="+mj-lt"/>
              </a:rPr>
              <a:t>Trading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EEAD5-2C06-1BC1-6E11-2FE5107F962F}"/>
              </a:ext>
            </a:extLst>
          </p:cNvPr>
          <p:cNvSpPr txBox="1"/>
          <p:nvPr/>
        </p:nvSpPr>
        <p:spPr>
          <a:xfrm>
            <a:off x="907474" y="2748787"/>
            <a:ext cx="55164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Automate Trade Post monitoring and use AI to estimate item prices. While simpler methods exist, this project explores AI as a solution.</a:t>
            </a:r>
          </a:p>
        </p:txBody>
      </p:sp>
    </p:spTree>
    <p:extLst>
      <p:ext uri="{BB962C8B-B14F-4D97-AF65-F5344CB8AC3E}">
        <p14:creationId xmlns:p14="http://schemas.microsoft.com/office/powerpoint/2010/main" val="3545655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8AAFA-8FF1-EDC9-E677-273ABD98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B63F-2093-666A-982C-CEE40DCB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it-IT" b="1" dirty="0"/>
              <a:t>Data Capture via Network Sniffing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22D3-856C-C442-EBD5-F1A97718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525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j-lt"/>
                <a:cs typeface="+mj-lt"/>
              </a:rPr>
              <a:t>Overview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5D2053B5-B11D-83A0-DF9A-C0699F3A9B39}"/>
              </a:ext>
            </a:extLst>
          </p:cNvPr>
          <p:cNvSpPr/>
          <p:nvPr/>
        </p:nvSpPr>
        <p:spPr>
          <a:xfrm>
            <a:off x="738187" y="4911411"/>
            <a:ext cx="1412340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Game Server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D4676CDE-32D5-25A0-9462-6E7430F644D7}"/>
              </a:ext>
            </a:extLst>
          </p:cNvPr>
          <p:cNvSpPr/>
          <p:nvPr/>
        </p:nvSpPr>
        <p:spPr>
          <a:xfrm>
            <a:off x="4773017" y="4949450"/>
            <a:ext cx="1412340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Game 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9FD9D6-0E5C-2878-0109-57970344E611}"/>
              </a:ext>
            </a:extLst>
          </p:cNvPr>
          <p:cNvCxnSpPr>
            <a:cxnSpLocks/>
          </p:cNvCxnSpPr>
          <p:nvPr/>
        </p:nvCxnSpPr>
        <p:spPr>
          <a:xfrm>
            <a:off x="2150527" y="5400298"/>
            <a:ext cx="26224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A8D3A9-32F2-9E5D-0A76-F45A75B7FC8A}"/>
              </a:ext>
            </a:extLst>
          </p:cNvPr>
          <p:cNvCxnSpPr>
            <a:cxnSpLocks/>
          </p:cNvCxnSpPr>
          <p:nvPr/>
        </p:nvCxnSpPr>
        <p:spPr>
          <a:xfrm flipH="1">
            <a:off x="2161088" y="5742821"/>
            <a:ext cx="26119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27BC1E6-CFAF-FA7E-846B-C11817D0FD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77128" y="4231862"/>
            <a:ext cx="1358726" cy="978146"/>
          </a:xfrm>
          <a:prstGeom prst="bentConnector3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C24892-FB9C-03E7-B38E-FD7435EF60DE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5479187" y="4700005"/>
            <a:ext cx="0" cy="2494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0BF5496E-9828-331D-E359-C492BCCE3AF5}"/>
              </a:ext>
            </a:extLst>
          </p:cNvPr>
          <p:cNvSpPr/>
          <p:nvPr/>
        </p:nvSpPr>
        <p:spPr>
          <a:xfrm>
            <a:off x="1866902" y="3030302"/>
            <a:ext cx="2114550" cy="1011271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Sniff Network with Wireshark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9354735-8F86-A721-F11E-F05279DB3E30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3981452" y="3535938"/>
            <a:ext cx="400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id="{47E91CFE-873C-2135-89BE-C9214466A004}"/>
              </a:ext>
            </a:extLst>
          </p:cNvPr>
          <p:cNvSpPr/>
          <p:nvPr/>
        </p:nvSpPr>
        <p:spPr>
          <a:xfrm>
            <a:off x="4381500" y="3030302"/>
            <a:ext cx="2195373" cy="1011271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Decode Packet using </a:t>
            </a:r>
            <a:r>
              <a:rPr lang="en-CA" sz="2400" dirty="0" err="1">
                <a:solidFill>
                  <a:schemeClr val="tx1"/>
                </a:solidFill>
              </a:rPr>
              <a:t>Protobuf</a:t>
            </a:r>
            <a:endParaRPr lang="en-CA" sz="2400" dirty="0">
              <a:solidFill>
                <a:schemeClr val="tx1"/>
              </a:solidFill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8D39315-FC83-E195-43AD-FA030D42EA85}"/>
              </a:ext>
            </a:extLst>
          </p:cNvPr>
          <p:cNvCxnSpPr>
            <a:cxnSpLocks/>
          </p:cNvCxnSpPr>
          <p:nvPr/>
        </p:nvCxnSpPr>
        <p:spPr>
          <a:xfrm>
            <a:off x="6576873" y="3537825"/>
            <a:ext cx="1673853" cy="162942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8A542008-CB40-64E5-2543-25D58E9542E4}"/>
              </a:ext>
            </a:extLst>
          </p:cNvPr>
          <p:cNvSpPr/>
          <p:nvPr/>
        </p:nvSpPr>
        <p:spPr>
          <a:xfrm>
            <a:off x="8250726" y="4661618"/>
            <a:ext cx="2195373" cy="1011271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Save to JSON</a:t>
            </a:r>
          </a:p>
        </p:txBody>
      </p:sp>
      <p:sp>
        <p:nvSpPr>
          <p:cNvPr id="71" name="Flowchart: Alternate Process 70">
            <a:extLst>
              <a:ext uri="{FF2B5EF4-FFF2-40B4-BE49-F238E27FC236}">
                <a16:creationId xmlns:a16="http://schemas.microsoft.com/office/drawing/2014/main" id="{7B45E29B-9EFC-BE0A-9C5D-BE22BFCE253A}"/>
              </a:ext>
            </a:extLst>
          </p:cNvPr>
          <p:cNvSpPr/>
          <p:nvPr/>
        </p:nvSpPr>
        <p:spPr>
          <a:xfrm>
            <a:off x="4381500" y="4291018"/>
            <a:ext cx="2195373" cy="408987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Proto Files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A84FF35-3097-EFC5-13BE-72C86F739F94}"/>
              </a:ext>
            </a:extLst>
          </p:cNvPr>
          <p:cNvCxnSpPr>
            <a:cxnSpLocks/>
          </p:cNvCxnSpPr>
          <p:nvPr/>
        </p:nvCxnSpPr>
        <p:spPr>
          <a:xfrm flipV="1">
            <a:off x="5479186" y="4041573"/>
            <a:ext cx="0" cy="2494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EB8888D-8870-60D2-DC66-6695F98C8FF1}"/>
              </a:ext>
            </a:extLst>
          </p:cNvPr>
          <p:cNvSpPr txBox="1"/>
          <p:nvPr/>
        </p:nvSpPr>
        <p:spPr>
          <a:xfrm>
            <a:off x="4943475" y="155982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Protocol Buffers (</a:t>
            </a:r>
            <a:r>
              <a:rPr lang="en-CA" sz="2000" dirty="0" err="1"/>
              <a:t>Protobuf</a:t>
            </a:r>
            <a:r>
              <a:rPr lang="en-US" sz="2000" dirty="0"/>
              <a:t>) serialize structured data, and .proto files define the schema required by the compiler to encode and decode that data.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807920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6884-D7FF-A899-9815-669800D5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9DAC-B398-42BE-CA82-72500B6D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it-IT" b="1" dirty="0"/>
              <a:t>Data Capture via Network Sniffing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7D639-6733-B4AD-85C9-251621C33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525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j-lt"/>
                <a:cs typeface="+mj-lt"/>
              </a:rPr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B8E1F-5B54-EBE7-B8D9-7DCF598B4C14}"/>
              </a:ext>
            </a:extLst>
          </p:cNvPr>
          <p:cNvSpPr txBox="1"/>
          <p:nvPr/>
        </p:nvSpPr>
        <p:spPr>
          <a:xfrm>
            <a:off x="838200" y="2443446"/>
            <a:ext cx="46579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After running the data capture overnight while monitoring the trade post, it captured ~56,000 trade messages.</a:t>
            </a:r>
            <a:endParaRPr lang="en-CA" sz="3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8BD2C0-AA94-D8CC-C2DB-E1798117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0" y="1575594"/>
            <a:ext cx="3095815" cy="456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9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56A67-61F6-B817-39BD-958C499B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4FB8-43CB-0AF7-4646-62DBDFE2B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/>
              <a:t>Parsing and Processing Messages Using LLMs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57B81-89CD-0FCA-E40A-D9CDCD40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j-lt"/>
                <a:cs typeface="+mj-lt"/>
              </a:rPr>
              <a:t>Extracting Value Info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16A39-DC9C-D1AA-0261-451FE7D38030}"/>
              </a:ext>
            </a:extLst>
          </p:cNvPr>
          <p:cNvSpPr txBox="1"/>
          <p:nvPr/>
        </p:nvSpPr>
        <p:spPr>
          <a:xfrm>
            <a:off x="838200" y="2443446"/>
            <a:ext cx="4657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Manual message parsing requires programming many edge cases to get item value. LLMs can extract the value from many formats.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3B152-E14A-382A-BF65-BC289C9BD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" t="41970" r="53845" b="36517"/>
          <a:stretch>
            <a:fillRect/>
          </a:stretch>
        </p:blipFill>
        <p:spPr>
          <a:xfrm>
            <a:off x="6096000" y="1653382"/>
            <a:ext cx="5104321" cy="263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FE19BC-FFC2-1D21-8EED-05CBDFC3F9BC}"/>
              </a:ext>
            </a:extLst>
          </p:cNvPr>
          <p:cNvSpPr txBox="1"/>
          <p:nvPr/>
        </p:nvSpPr>
        <p:spPr>
          <a:xfrm>
            <a:off x="6319167" y="4364038"/>
            <a:ext cx="465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Items are traded using common currencies (which change), currently “</a:t>
            </a:r>
            <a:r>
              <a:rPr lang="en-US" sz="2400" dirty="0" err="1"/>
              <a:t>db</a:t>
            </a:r>
            <a:r>
              <a:rPr lang="en-US" sz="2400" dirty="0"/>
              <a:t>” and “lad,” short for Death Bloom and Life After Death (both rare weapons) are used.</a:t>
            </a:r>
          </a:p>
        </p:txBody>
      </p:sp>
    </p:spTree>
    <p:extLst>
      <p:ext uri="{BB962C8B-B14F-4D97-AF65-F5344CB8AC3E}">
        <p14:creationId xmlns:p14="http://schemas.microsoft.com/office/powerpoint/2010/main" val="388082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80E93-277A-5DAD-1876-C998799D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0DAC-FAFD-782E-ED8E-CD2A70DD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/>
              <a:t>Parsing and Processing Messages Using LLMs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0499C-1BD7-7CD2-E8E4-EAC778981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Prompt and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1973D-B623-E6E2-4702-A78D93C93241}"/>
              </a:ext>
            </a:extLst>
          </p:cNvPr>
          <p:cNvSpPr txBox="1"/>
          <p:nvPr/>
        </p:nvSpPr>
        <p:spPr>
          <a:xfrm>
            <a:off x="838200" y="2248725"/>
            <a:ext cx="6097508" cy="387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What are the number of </a:t>
            </a:r>
            <a:r>
              <a:rPr lang="en-US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dbs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for each item?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Respond in valid JSON only.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End your JSON with ###END###.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Format example: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{{"[X]": (number of </a:t>
            </a:r>
            <a:r>
              <a:rPr lang="en-US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dbs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for X)}}###END###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Make an entry for each item in the message, where an item is in [].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If the item/items is not priced with </a:t>
            </a:r>
            <a:r>
              <a:rPr lang="en-US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dbs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respond with: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{{"result": "Fail"}}###END###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Message: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{message}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Answer: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3B722-3E10-0043-EADC-B8B161536F24}"/>
              </a:ext>
            </a:extLst>
          </p:cNvPr>
          <p:cNvSpPr txBox="1"/>
          <p:nvPr/>
        </p:nvSpPr>
        <p:spPr>
          <a:xfrm>
            <a:off x="6935707" y="2344909"/>
            <a:ext cx="46187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I have set up llama.cpp with the Llama server using the DeepSeek-R1-Distill-Qwen-1.5B model and am currently implementing and testing it.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94817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FFB9-5AAC-08AE-9C3A-1811706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F10F-B5C1-7D4A-99C1-6CB4C65B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/>
              <a:t>Data Cleaning, Feature Engineering, and Model Training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AD61B-D904-E37F-A62C-F2D9DF10D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0A0E2-0F53-2985-C71A-03177D4B9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094"/>
            <a:ext cx="7116168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6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8FB06-8921-6780-A726-0F498633F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C436-95AC-928B-CFF7-1A6A83F2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/>
              <a:t>Data Cleaning, Feature Engineering, and Model Training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D7BE-5E62-EF92-AE7B-759695EAF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Results, Future Improvements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A29A8-2BDB-8D04-C484-C7C5342D5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64" y="2506713"/>
            <a:ext cx="4505786" cy="3577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4CDFE-23A1-BDAF-A3E8-66784AA15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667868"/>
            <a:ext cx="3543300" cy="46360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8665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861C-50E7-0CA4-5A63-56AB44B6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6C4823F-EE3F-4845-562E-0420B723B3BE}"/>
              </a:ext>
            </a:extLst>
          </p:cNvPr>
          <p:cNvSpPr/>
          <p:nvPr/>
        </p:nvSpPr>
        <p:spPr>
          <a:xfrm>
            <a:off x="7232024" y="2380935"/>
            <a:ext cx="3351293" cy="2008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CC008-AA60-63C6-6B0E-EBAEAF98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/>
              <a:t>Deploying a Web App with Custom OCR Pipeline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41B4-FD8B-3494-5BC1-01EFC63F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Image to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3604C-5FF7-3B3D-22F5-6B7834DAAD5C}"/>
              </a:ext>
            </a:extLst>
          </p:cNvPr>
          <p:cNvSpPr txBox="1"/>
          <p:nvPr/>
        </p:nvSpPr>
        <p:spPr>
          <a:xfrm>
            <a:off x="1078494" y="4935820"/>
            <a:ext cx="100350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game’s font caused issues with the standard model, so Anders from </a:t>
            </a:r>
            <a:r>
              <a:rPr lang="en-US" sz="2800" dirty="0" err="1"/>
              <a:t>DarkerDB</a:t>
            </a:r>
            <a:r>
              <a:rPr lang="en-US" sz="2800" dirty="0"/>
              <a:t> created a custom model by labeling 100 item screenshots, enabling it to read the text accurately.</a:t>
            </a:r>
            <a:endParaRPr lang="en-CA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4BF547-2F9B-9357-F887-126DC1DD2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390"/>
          <a:stretch>
            <a:fillRect/>
          </a:stretch>
        </p:blipFill>
        <p:spPr>
          <a:xfrm>
            <a:off x="1318788" y="2415179"/>
            <a:ext cx="2755087" cy="194415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983F6A-33A1-C394-4C4B-A5D072356F7B}"/>
              </a:ext>
            </a:extLst>
          </p:cNvPr>
          <p:cNvCxnSpPr>
            <a:cxnSpLocks/>
          </p:cNvCxnSpPr>
          <p:nvPr/>
        </p:nvCxnSpPr>
        <p:spPr>
          <a:xfrm>
            <a:off x="4073875" y="3409122"/>
            <a:ext cx="642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370E1D-3CE4-A50F-3A29-CDF979F28E2D}"/>
              </a:ext>
            </a:extLst>
          </p:cNvPr>
          <p:cNvSpPr txBox="1"/>
          <p:nvPr/>
        </p:nvSpPr>
        <p:spPr>
          <a:xfrm>
            <a:off x="7232024" y="2393459"/>
            <a:ext cx="33512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“Weapon Damage 38</a:t>
            </a:r>
          </a:p>
          <a:p>
            <a:r>
              <a:rPr lang="en-CA" dirty="0"/>
              <a:t>Move Speed -50</a:t>
            </a:r>
          </a:p>
          <a:p>
            <a:r>
              <a:rPr lang="en-CA" dirty="0"/>
              <a:t>Armor Penetration 15%</a:t>
            </a:r>
          </a:p>
          <a:p>
            <a:r>
              <a:rPr lang="en-CA" dirty="0"/>
              <a:t>+3 Physical Power</a:t>
            </a:r>
          </a:p>
          <a:p>
            <a:r>
              <a:rPr lang="en-CA" dirty="0"/>
              <a:t>+2.1% Action Speed</a:t>
            </a:r>
          </a:p>
          <a:p>
            <a:r>
              <a:rPr lang="en-CA" dirty="0"/>
              <a:t>+3% Physical Damage Bonus</a:t>
            </a:r>
          </a:p>
          <a:p>
            <a:r>
              <a:rPr lang="en-CA" dirty="0"/>
              <a:t>+2 Additional Weapon Damage”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0E18ED39-C344-503A-313E-F9E5BA2489EB}"/>
              </a:ext>
            </a:extLst>
          </p:cNvPr>
          <p:cNvSpPr/>
          <p:nvPr/>
        </p:nvSpPr>
        <p:spPr>
          <a:xfrm>
            <a:off x="4715916" y="2766892"/>
            <a:ext cx="1874067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Tesseract OCR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C61A33-5C6F-520C-9851-40218CB558CA}"/>
              </a:ext>
            </a:extLst>
          </p:cNvPr>
          <p:cNvCxnSpPr>
            <a:cxnSpLocks/>
          </p:cNvCxnSpPr>
          <p:nvPr/>
        </p:nvCxnSpPr>
        <p:spPr>
          <a:xfrm>
            <a:off x="6589983" y="3385181"/>
            <a:ext cx="642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118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30A1-241B-62B5-9F86-52F547EF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F23D-2642-575A-DCB5-47459EBF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r>
              <a:rPr lang="en-US" b="1" dirty="0"/>
              <a:t>Deploying a Web App with Custom OCR Pipeline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BE064-5EF2-79E7-EA3A-DF6E2A037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673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Web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74E50-0199-FDFC-6F23-12D8B4F3DF1D}"/>
              </a:ext>
            </a:extLst>
          </p:cNvPr>
          <p:cNvSpPr txBox="1"/>
          <p:nvPr/>
        </p:nvSpPr>
        <p:spPr>
          <a:xfrm>
            <a:off x="838200" y="2300952"/>
            <a:ext cx="9111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used Python and Flask to build a simple web app that lets users upload images of their items.</a:t>
            </a:r>
            <a:endParaRPr lang="en-CA" sz="2800" dirty="0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97D3E42-4405-802C-67E7-B20FA7648A03}"/>
              </a:ext>
            </a:extLst>
          </p:cNvPr>
          <p:cNvSpPr/>
          <p:nvPr/>
        </p:nvSpPr>
        <p:spPr>
          <a:xfrm>
            <a:off x="611863" y="4114706"/>
            <a:ext cx="2312406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User Screenshot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686A75-1F59-4F8A-F5C2-B98B9F82806E}"/>
              </a:ext>
            </a:extLst>
          </p:cNvPr>
          <p:cNvCxnSpPr>
            <a:cxnSpLocks/>
          </p:cNvCxnSpPr>
          <p:nvPr/>
        </p:nvCxnSpPr>
        <p:spPr>
          <a:xfrm>
            <a:off x="2924269" y="4793716"/>
            <a:ext cx="5613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BA23972-1849-57D0-02CE-39882715D503}"/>
              </a:ext>
            </a:extLst>
          </p:cNvPr>
          <p:cNvSpPr/>
          <p:nvPr/>
        </p:nvSpPr>
        <p:spPr>
          <a:xfrm>
            <a:off x="3485584" y="4131608"/>
            <a:ext cx="1132438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Flask App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066671-994A-C715-4149-62A2922F94E4}"/>
              </a:ext>
            </a:extLst>
          </p:cNvPr>
          <p:cNvCxnSpPr>
            <a:cxnSpLocks/>
          </p:cNvCxnSpPr>
          <p:nvPr/>
        </p:nvCxnSpPr>
        <p:spPr>
          <a:xfrm>
            <a:off x="4618022" y="4778533"/>
            <a:ext cx="4157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9FF0D562-D4DC-8B0D-EFAF-70E709C69C74}"/>
              </a:ext>
            </a:extLst>
          </p:cNvPr>
          <p:cNvSpPr/>
          <p:nvPr/>
        </p:nvSpPr>
        <p:spPr>
          <a:xfrm>
            <a:off x="5033726" y="4131608"/>
            <a:ext cx="1132438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OCR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4B47C1F7-7782-A99A-DFAF-5B6339D7511C}"/>
              </a:ext>
            </a:extLst>
          </p:cNvPr>
          <p:cNvSpPr/>
          <p:nvPr/>
        </p:nvSpPr>
        <p:spPr>
          <a:xfrm>
            <a:off x="6581868" y="4131608"/>
            <a:ext cx="1961208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Random Forest Regressor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700521-4CE7-9F38-E46D-F04250E8DC8E}"/>
              </a:ext>
            </a:extLst>
          </p:cNvPr>
          <p:cNvCxnSpPr>
            <a:cxnSpLocks/>
          </p:cNvCxnSpPr>
          <p:nvPr/>
        </p:nvCxnSpPr>
        <p:spPr>
          <a:xfrm>
            <a:off x="6166164" y="4776814"/>
            <a:ext cx="4157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068D9F-6790-137A-19D1-5B791C2FB427}"/>
              </a:ext>
            </a:extLst>
          </p:cNvPr>
          <p:cNvCxnSpPr>
            <a:cxnSpLocks/>
          </p:cNvCxnSpPr>
          <p:nvPr/>
        </p:nvCxnSpPr>
        <p:spPr>
          <a:xfrm>
            <a:off x="8564578" y="4776814"/>
            <a:ext cx="5613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E2804FD9-0AED-444D-22E5-45088028CD55}"/>
              </a:ext>
            </a:extLst>
          </p:cNvPr>
          <p:cNvSpPr/>
          <p:nvPr/>
        </p:nvSpPr>
        <p:spPr>
          <a:xfrm>
            <a:off x="9125893" y="4114706"/>
            <a:ext cx="2312406" cy="1324216"/>
          </a:xfrm>
          <a:prstGeom prst="flowChartAlternate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Webpage Display</a:t>
            </a:r>
          </a:p>
        </p:txBody>
      </p:sp>
    </p:spTree>
    <p:extLst>
      <p:ext uri="{BB962C8B-B14F-4D97-AF65-F5344CB8AC3E}">
        <p14:creationId xmlns:p14="http://schemas.microsoft.com/office/powerpoint/2010/main" val="391223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DC0F-F7FA-35FF-2041-756E15D6C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DA74-3AE0-0FCA-CB68-410ED917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94122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Prototype Demo</a:t>
            </a:r>
            <a:endParaRPr lang="en-US" b="1" dirty="0"/>
          </a:p>
        </p:txBody>
      </p:sp>
      <p:pic>
        <p:nvPicPr>
          <p:cNvPr id="3" name="Demo">
            <a:hlinkClick r:id="" action="ppaction://media"/>
            <a:extLst>
              <a:ext uri="{FF2B5EF4-FFF2-40B4-BE49-F238E27FC236}">
                <a16:creationId xmlns:a16="http://schemas.microsoft.com/office/drawing/2014/main" id="{B0E2D2AE-090F-1D7E-E622-8E60C3A563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33283" y="1156284"/>
            <a:ext cx="9125433" cy="51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7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85DF-E010-888A-2E01-684E4192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Resources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7A0FB-8641-1D2E-0F47-03274FBD630D}"/>
              </a:ext>
            </a:extLst>
          </p:cNvPr>
          <p:cNvSpPr txBox="1"/>
          <p:nvPr/>
        </p:nvSpPr>
        <p:spPr>
          <a:xfrm>
            <a:off x="838200" y="2768051"/>
            <a:ext cx="70564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Disclaimer</a:t>
            </a:r>
          </a:p>
          <a:p>
            <a:r>
              <a:rPr lang="en-US" dirty="0"/>
              <a:t>This project is not affiliated with or endorsed by </a:t>
            </a:r>
            <a:r>
              <a:rPr lang="en-US" dirty="0" err="1"/>
              <a:t>Ironmace</a:t>
            </a:r>
            <a:r>
              <a:rPr lang="en-US" dirty="0"/>
              <a:t> or Dark and Darker. Use responsibly and in accordance with the game's terms of service.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FEFD6-F630-FD16-B2E9-68A8896EBBBD}"/>
              </a:ext>
            </a:extLst>
          </p:cNvPr>
          <p:cNvSpPr txBox="1"/>
          <p:nvPr/>
        </p:nvSpPr>
        <p:spPr>
          <a:xfrm>
            <a:off x="838200" y="1786128"/>
            <a:ext cx="7056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Github</a:t>
            </a:r>
            <a:endParaRPr lang="en-US" dirty="0"/>
          </a:p>
          <a:p>
            <a:r>
              <a:rPr lang="en-US" dirty="0">
                <a:hlinkClick r:id="rId2"/>
              </a:rPr>
              <a:t>https://github.com/ian2102/item-value-ai</a:t>
            </a:r>
            <a:endParaRPr lang="en-C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C809B0-811B-CED0-F52F-CDEDBDD088E4}"/>
              </a:ext>
            </a:extLst>
          </p:cNvPr>
          <p:cNvSpPr txBox="1">
            <a:spLocks/>
          </p:cNvSpPr>
          <p:nvPr/>
        </p:nvSpPr>
        <p:spPr>
          <a:xfrm>
            <a:off x="838200" y="3820561"/>
            <a:ext cx="10515600" cy="2662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2447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664</TotalTime>
  <Words>676</Words>
  <Application>Microsoft Office PowerPoint</Application>
  <PresentationFormat>Widescreen</PresentationFormat>
  <Paragraphs>99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office theme</vt:lpstr>
      <vt:lpstr>Item Value Prediction for Dark and Darker </vt:lpstr>
      <vt:lpstr>Table of Contents</vt:lpstr>
      <vt:lpstr>Introduction to Dark and Darker and Trading Challenges</vt:lpstr>
      <vt:lpstr>Introduction to Dark and Darker and Trading Challenges</vt:lpstr>
      <vt:lpstr>Introduction to Dark and Darker and Trading Challenges</vt:lpstr>
      <vt:lpstr>Introduction to Dark and Darker and Trading Challenges</vt:lpstr>
      <vt:lpstr>Data Capture via Network Sniffing</vt:lpstr>
      <vt:lpstr>Data Capture via Network Sniffing</vt:lpstr>
      <vt:lpstr>Parsing and Processing Messages Using LLMs</vt:lpstr>
      <vt:lpstr>Parsing and Processing Messages Using LLMs</vt:lpstr>
      <vt:lpstr>Data Cleaning, Feature Engineering, and Model Training</vt:lpstr>
      <vt:lpstr>Data Cleaning, Feature Engineering, and Model Training</vt:lpstr>
      <vt:lpstr>Deploying a Web App with Custom OCR Pipeline</vt:lpstr>
      <vt:lpstr>Deploying a Web App with Custom OCR Pipeline</vt:lpstr>
      <vt:lpstr>Prototype Demo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Ian Clarke</cp:lastModifiedBy>
  <cp:revision>265</cp:revision>
  <dcterms:created xsi:type="dcterms:W3CDTF">2025-09-12T18:43:37Z</dcterms:created>
  <dcterms:modified xsi:type="dcterms:W3CDTF">2026-03-11T00:58:07Z</dcterms:modified>
</cp:coreProperties>
</file>